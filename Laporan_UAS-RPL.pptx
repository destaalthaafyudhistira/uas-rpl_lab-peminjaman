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00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4A0A5">
              <a:alpha val="40000"/>
            </a:srgbClr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1980" y="23622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601980" y="2362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REKAYASA PERANGKAT LUNAK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1980" y="784860"/>
            <a:ext cx="496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Software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1980" y="1562100"/>
            <a:ext cx="496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Informasi Peminjaman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 dan Ruangan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943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Kebutuhan  ·  Metode Agile  ·  Use Case  ·  ERD  ·  Desain UI/UX  ·  Pengujian</a:t>
            </a:r>
            <a:endParaRPr lang="en-US" sz="11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5B181AE-C2DC-53BF-820D-64ACCF5A196D}"/>
              </a:ext>
            </a:extLst>
          </p:cNvPr>
          <p:cNvSpPr/>
          <p:nvPr/>
        </p:nvSpPr>
        <p:spPr>
          <a:xfrm>
            <a:off x="640080" y="2468880"/>
            <a:ext cx="637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dan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Tim: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Althaaf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Yudhistira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Database Analyst	3. Reza Wijaya : Coding Program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Renaldi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Pasapan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Analisa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4.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Theopilus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Conary Chang: UI/UX  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PRESENTASI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Quality (HOQ)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Functional Requirements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56032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2468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Pengembangan Agile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iteratif &amp; Konteks Aplikasi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70332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Aktor, Pemetaan, dan Relasi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2344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141732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&amp; ERD Diagram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aktivitas &amp; Struktur database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256032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468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UI/UX &amp; Workflow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Flow, Wireframe, Coding, Testing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Quality (HOQ)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Requirements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502920" cy="320040"/>
          </a:xfrm>
          <a:prstGeom prst="rect">
            <a:avLst/>
          </a:prstGeom>
          <a:solidFill>
            <a:srgbClr val="1E3A5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554480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0120" y="1554480"/>
            <a:ext cx="4800600" cy="320040"/>
          </a:xfrm>
          <a:prstGeom prst="rect">
            <a:avLst/>
          </a:prstGeom>
          <a:solidFill>
            <a:srgbClr val="1E3A5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554480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Pengguna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52160" y="1554480"/>
            <a:ext cx="960120" cy="320040"/>
          </a:xfrm>
          <a:prstGeom prst="rect">
            <a:avLst/>
          </a:prstGeom>
          <a:solidFill>
            <a:srgbClr val="1E3A5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1554480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03720" y="1554480"/>
            <a:ext cx="1005840" cy="320040"/>
          </a:xfrm>
          <a:prstGeom prst="rect">
            <a:avLst/>
          </a:prstGeom>
          <a:solidFill>
            <a:srgbClr val="1E3A5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1554480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892808"/>
            <a:ext cx="5029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892808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0120" y="1892808"/>
            <a:ext cx="48006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1892808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pinjam barang mudah dan cepat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1892808"/>
            <a:ext cx="9601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9592" y="1892808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1892808"/>
            <a:ext cx="100584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1892808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231136"/>
            <a:ext cx="502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231136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60120" y="2231136"/>
            <a:ext cx="48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2231136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pinjam ruangan mudah dan cepat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52160" y="2231136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9592" y="2231136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03720" y="2231136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2231136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569464"/>
            <a:ext cx="5029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2569464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60120" y="2569464"/>
            <a:ext cx="48006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2569464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peminjaman transparan dan dapat dipantau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52160" y="2569464"/>
            <a:ext cx="9601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9592" y="2569464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03720" y="2569464"/>
            <a:ext cx="100584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2569464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2907792"/>
            <a:ext cx="502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2907792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0120" y="2907792"/>
            <a:ext cx="48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7552" y="2907792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approval peminjaman cepat dan jelas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52160" y="2907792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9592" y="2907792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03720" y="2907792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31152" y="2907792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246120"/>
            <a:ext cx="5029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3246120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60120" y="3246120"/>
            <a:ext cx="48006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7552" y="3246120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melaporkan masalah barang/ruangan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852160" y="3246120"/>
            <a:ext cx="9601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79592" y="3246120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903720" y="3246120"/>
            <a:ext cx="100584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31152" y="3246120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3584448"/>
            <a:ext cx="502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192" y="3584448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60120" y="3584448"/>
            <a:ext cx="48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7552" y="3584448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pengaduan masalah dapat dipantau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852160" y="3584448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79592" y="3584448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903720" y="3584448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31152" y="3584448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3922776"/>
            <a:ext cx="5029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3192" y="3922776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60120" y="3922776"/>
            <a:ext cx="48006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7552" y="3922776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approval pengaduan cepat dan jelas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852160" y="3922776"/>
            <a:ext cx="9601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79592" y="3922776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903720" y="3922776"/>
            <a:ext cx="100584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31152" y="3922776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65760" y="4261104"/>
            <a:ext cx="502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3192" y="4261104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60120" y="4261104"/>
            <a:ext cx="48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7552" y="4261104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barang dan ruangan selalu akurat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852160" y="4261104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79592" y="4261104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903720" y="4261104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31152" y="4261104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65760" y="4599432"/>
            <a:ext cx="5029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3192" y="4599432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960120" y="4599432"/>
            <a:ext cx="48006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7552" y="4599432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melihat riwayat peminjaman &amp; pengaduan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852160" y="4599432"/>
            <a:ext cx="9601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79592" y="4599432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903720" y="4599432"/>
            <a:ext cx="100584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31152" y="4599432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365760" y="4937760"/>
            <a:ext cx="502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93192" y="4937760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960120" y="4937760"/>
            <a:ext cx="48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87552" y="4937760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aplikasi mudah dipahami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852160" y="4937760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879592" y="4937760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903720" y="4937760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31152" y="4937760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 &amp; Bobot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657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3840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Teknis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6400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63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365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83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1783080"/>
            <a:ext cx="3886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autentikasi (role-based)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783080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783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36576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214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121408"/>
            <a:ext cx="38862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1214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pinjam barang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121408"/>
            <a:ext cx="64008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1214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459736"/>
            <a:ext cx="365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45973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2459736"/>
            <a:ext cx="3886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24597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pinjam ruang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2459736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245973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798064"/>
            <a:ext cx="36576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79806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2798064"/>
            <a:ext cx="38862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27980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approval Kaprodi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2798064"/>
            <a:ext cx="64008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279806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136392"/>
            <a:ext cx="365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1363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" y="3136392"/>
            <a:ext cx="3886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3136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status real-time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3136392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1363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474720"/>
            <a:ext cx="36576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474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3474720"/>
            <a:ext cx="38862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pengaduan masalah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17720" y="3474720"/>
            <a:ext cx="64008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3474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813048"/>
            <a:ext cx="365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8130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" y="3813048"/>
            <a:ext cx="3886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3813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data master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17720" y="3813048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3813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4151376"/>
            <a:ext cx="36576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15137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31520" y="4151376"/>
            <a:ext cx="38862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41513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tracking system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17720" y="4151376"/>
            <a:ext cx="64008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17720" y="415137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39496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Fitur (Bobot Relatif)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394960" y="1508760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Kaprodi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178040" y="1563624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78040" y="1563624"/>
            <a:ext cx="1469571" cy="228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93331" y="1508760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394960" y="1938528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Real-time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178040" y="1993392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993392"/>
            <a:ext cx="1352006" cy="228600"/>
          </a:xfrm>
          <a:prstGeom prst="roundRect">
            <a:avLst>
              <a:gd name="adj" fmla="val 16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75766" y="1938528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394960" y="2368296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Pinjam Barang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178040" y="2423160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78040" y="2423160"/>
            <a:ext cx="881743" cy="228600"/>
          </a:xfrm>
          <a:prstGeom prst="roundRect">
            <a:avLst>
              <a:gd name="adj" fmla="val 16000"/>
            </a:avLst>
          </a:prstGeom>
          <a:solidFill>
            <a:srgbClr val="14A0A5"/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05503" y="2368296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394960" y="2798064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Pinjam Ruang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178040" y="2852928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78040" y="2852928"/>
            <a:ext cx="881743" cy="228600"/>
          </a:xfrm>
          <a:prstGeom prst="roundRect">
            <a:avLst>
              <a:gd name="adj" fmla="val 16000"/>
            </a:avLst>
          </a:prstGeom>
          <a:solidFill>
            <a:srgbClr val="14A0A5"/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105503" y="2798064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394960" y="3227832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Pengaduan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178040" y="3282696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282696"/>
            <a:ext cx="411480" cy="228600"/>
          </a:xfrm>
          <a:prstGeom prst="roundRect">
            <a:avLst>
              <a:gd name="adj" fmla="val 16000"/>
            </a:avLst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35240" y="3227832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394960" y="3657600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Login/Auth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178040" y="3712464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78040" y="3712464"/>
            <a:ext cx="352697" cy="228600"/>
          </a:xfrm>
          <a:prstGeom prst="roundRect">
            <a:avLst>
              <a:gd name="adj" fmla="val 16000"/>
            </a:avLst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76457" y="3657600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394960" y="4087368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Master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178040" y="4142232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78040" y="4142232"/>
            <a:ext cx="293914" cy="228600"/>
          </a:xfrm>
          <a:prstGeom prst="roundRect">
            <a:avLst>
              <a:gd name="adj" fmla="val 16000"/>
            </a:avLst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17674" y="4087368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394960" y="4517136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Track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178040" y="4572000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4572000"/>
            <a:ext cx="235131" cy="228600"/>
          </a:xfrm>
          <a:prstGeom prst="roundRect">
            <a:avLst>
              <a:gd name="adj" fmla="val 16000"/>
            </a:avLst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458891" y="4517136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Pengembangan Agile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iteratif &amp; inkremental — membagi proyek ke dalam Sprint (2–4 minggu) untuk menghasilkan perangkat lunak fungsional secara bertahap dengan feedback berkelanjutan dari stakeholder.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947672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94767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44144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dari wawancara Kaprodi, misal alur pinjam barang dengan notifikasi approval otomatis.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1947672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67912" y="194767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9272" y="244144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Rancangan UI/UX: dashboard Peminjam, halaman approval Kaprodi, struktur database barang &amp; ruangan.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1947672"/>
            <a:ext cx="457200" cy="457200"/>
          </a:xfrm>
          <a:prstGeom prst="ellipse">
            <a:avLst/>
          </a:prstGeom>
          <a:solidFill>
            <a:srgbClr val="14A0A5"/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56832" y="194767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08192" y="244144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fitur login role-based (Peminjam/Admin/Kaprodi), CRUD barang, logika peminjaman.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" y="3502152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5021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" y="399592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coba: tombol Approve → status Peminjam berubah? Admin bisa kirim pengaduan barang rusak?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54680" y="33375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9272" y="3502152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67912" y="35021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9272" y="399592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ke server/hosting agar Peminjam, Admin, dan Kaprodi dapat mengakses via web / mobile.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33375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08192" y="3502152"/>
            <a:ext cx="457200" cy="457200"/>
          </a:xfrm>
          <a:prstGeom prst="ellipse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56832" y="35021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08192" y="399592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Kaprodi: tampilan approval mudah? Admin: input barang sudah efisien? → sprint berikutnya.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/ Dosen &amp; Staff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Pinjam barang/ruangan, pengaduan, cek status &amp; riwayat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Kaprodi / Head Lab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&amp; Approve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 peminjaman dan pengaduan masalah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8B2FC9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188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data master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Barang, ruangan, tipe barang, daftar peminjaman &amp; pengaduan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Use Case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889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1E3A5F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889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Semua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371600" y="2697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(include semua UC)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461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1E3A5F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461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Peminjam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71600" y="3154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Pinjam Barang → Form Barang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6118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033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1E3A5F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03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Peminjam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371600" y="36118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Pinjam Ruang → Form Ruang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605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1E3A5F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60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Peminjam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371600" y="40690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Pengaduan Masalah → Form Pengaduan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5262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6177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0D7377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617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Kaprodi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371600" y="45262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Pinjam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6974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27889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0D7377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27889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Kaprodi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806440" y="2697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Pengaduan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1546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2461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8B2FC9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32461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806440" y="3154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Pinjam → List Pinjam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36118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92040" y="37033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8B2FC9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3703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806440" y="36118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Pengaduan → List Pengaduan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40690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92040" y="41605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8B2FC9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892040" y="4160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06440" y="40690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Data Barang/Ruangan/Tipe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 &amp; ERD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4A0A5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93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 Barang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340864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40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 Ruang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688336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4A0A5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883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Pengaduan Masalah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035808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Pinjaman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4A0A5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Pengaduan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730752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Data (CRUD)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078224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4A0A5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0782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Riwayat Peminjaman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425696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425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Riwayat Pengaduan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– Tabel Utama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64592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B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664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8745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nama, tipe_id, kondisi, status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2176272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B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1945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Barang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4048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nama_tipe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2706624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BF4F6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7249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Ruangan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93522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nama, kapasitas, status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3236976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BF4F6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2552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Peminjaman Barang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46557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barang_id, tgl_pinjam, tgl_kembali, status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3767328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BF4F6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37856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Peminjaman Ruangan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9959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ruangan_id, tgl_pinjam, keperluan, status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429768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BF4F6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43159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Pengaduan Masalah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45262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deskripsi, foto, status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UI/UX &amp;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" y="1325880"/>
            <a:ext cx="548640" cy="5486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Wawancara &amp; survey untuk memahami kebutuhan pengguna dan kebiasaan operasional.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81912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47088" y="132588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708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36776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36776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struktur navigasi dan bagian-bagian website/aplikasi.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98064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63240" y="1325880"/>
            <a:ext cx="548640" cy="548640"/>
          </a:xfrm>
          <a:prstGeom prst="ellipse">
            <a:avLst/>
          </a:prstGeom>
          <a:solidFill>
            <a:srgbClr val="14A0A5"/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52928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52928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Sketsa visual alur informasi—membantu tim desain, konten, dan developer.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14216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79392" y="1325880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69080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69080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alur penggunaan dengan pendekatan UX agar pengguna nyaman.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30368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95544" y="132588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85232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85232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komponen UI: ikon, font, warna; dikerjakan paralel dengan developer.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46520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11696" y="1325880"/>
            <a:ext cx="548640" cy="548640"/>
          </a:xfrm>
          <a:prstGeom prst="ellipse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1169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01384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Produk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01384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developer mulai coding dengan HTML/CSS/JS menggunakan komponen library.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662672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27848" y="132588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2784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17536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717536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diuji sebelum diluncurkan; hasil menjadi bahan evaluasi iterasi berikutnya.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yang Dimodelkan: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4983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Peminjaman Barang · Peminjaman Ruangan · Pengaduan Masalah · Verifikasi Peminjaman · Verifikasi Pengaduan · CRUD Data · Cek Riwayat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Database &amp; Pengujian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EBF4F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28216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642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93976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157984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939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Barang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23744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EB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587752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237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53512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017520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9535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form_peminjamanbarang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EB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447288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form_peminjamanruangan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13048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877056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8130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form_pengaduanmasalah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242816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EB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306824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2428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0972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Program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login: </a:t>
            </a: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Peminjam, Admin, Kaprodi
</a:t>
            </a: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data master </a:t>
            </a: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barang, ruangan, pengguna
</a:t>
            </a: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sistem: </a:t>
            </a: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 eksklusif (tidak double-book)
</a:t>
            </a: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approval </a:t>
            </a: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ke Kaprodi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9260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Program &amp; Maintenance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340156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</a:t>
            </a: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alur approval, pengaduan, dan CRUD
</a:t>
            </a: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 </a:t>
            </a: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akhir sprint Agile
</a:t>
            </a: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Maintenance: </a:t>
            </a: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bug, update data master, evaluasi performa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4A0A5">
              <a:alpha val="20000"/>
            </a:srgbClr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9047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HOQ mengidentifikasi 10 kebutuhan pengguna &amp; 8 kebutuhan teknis dengan prioritas utama sistem approval Kaprodi (25%).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17627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Agile memastikan pengembangan iteratif &amp; inkremental dengan feedback berkelanjutan dari Kaprodi sebagai stakeholder utama.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86207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mendefinisikan 3 aktor (Peminjam, Kaprodi, Admin) dengan relasi include/extend yang terstruktur.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4787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4747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mencakup 6 tabel utama, mendukung manajemen barang, ruangan, peminjaman, dan pengaduan secara real-time.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23367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1605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UI/UX (Riset → Wireframe → User Flow → Design System → Dev → Testing) memastikan produk yang usable &amp; maintainable.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1042</Words>
  <Application>Microsoft Office PowerPoint</Application>
  <PresentationFormat>On-screen Show (16:9)</PresentationFormat>
  <Paragraphs>255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Pengembangan Software - Sistem Informasi Peminjaman Barang dan Ruangan</dc:title>
  <dc:subject>PptxGenJS Presentation</dc:subject>
  <dc:creator>PptxGenJS</dc:creator>
  <cp:lastModifiedBy>Kyoka Yor</cp:lastModifiedBy>
  <cp:revision>2</cp:revision>
  <dcterms:created xsi:type="dcterms:W3CDTF">2026-06-23T04:09:49Z</dcterms:created>
  <dcterms:modified xsi:type="dcterms:W3CDTF">2026-06-23T04:45:39Z</dcterms:modified>
</cp:coreProperties>
</file>